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Bold"/>
      <p:regular r:id="rId201315"/>
    </p:embeddedFont>
    <p:embeddedFont>
      <p:font typeface="Source Serif 4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1569541"/>
            <a:ext cx="2213614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1629370"/>
            <a:ext cx="258388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PROJECT REPORT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086" y="1952427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Supply Chain &amp; Manufacturing Analytics Platform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98086" y="4011613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centralized analytical solution connecting procurement, inventory, production, logistics, and demand planning — powered by SQL Server, Python, and Power BI. Designed for organizations experiencing rising logistics costs, stock-outs, supplier delays, and production downtime.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95722"/>
            <a:ext cx="6223638" cy="97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Business Challenges Driving This Solution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269971" y="1872655"/>
            <a:ext cx="6223638" cy="909439"/>
          </a:xfrm>
          <a:prstGeom prst="roundRect">
            <a:avLst>
              <a:gd name="adj" fmla="val 762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1417" y="2044105"/>
            <a:ext cx="58807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Rising Logistics Costs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41417" y="2369046"/>
            <a:ext cx="588074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Transport mode, delays, and inefficient routing erode margins without clear attribution.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69971" y="2918817"/>
            <a:ext cx="6223638" cy="909439"/>
          </a:xfrm>
          <a:prstGeom prst="roundRect">
            <a:avLst>
              <a:gd name="adj" fmla="val 762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1417" y="3090267"/>
            <a:ext cx="58807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Frequent Stock-Outs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41417" y="3415209"/>
            <a:ext cx="588074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Mismatch between demand, inventory policy, and supplier reliability creates service gaps.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69971" y="3964980"/>
            <a:ext cx="6223638" cy="1151037"/>
          </a:xfrm>
          <a:prstGeom prst="roundRect">
            <a:avLst>
              <a:gd name="adj" fmla="val 6028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1417" y="4136430"/>
            <a:ext cx="58807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Supplier Delivery Delays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41417" y="4461371"/>
            <a:ext cx="588074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Procurement uncertainty propagates into production scheduling and customer commitments.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69971" y="5252740"/>
            <a:ext cx="6223638" cy="909439"/>
          </a:xfrm>
          <a:prstGeom prst="roundRect">
            <a:avLst>
              <a:gd name="adj" fmla="val 762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1417" y="5424190"/>
            <a:ext cx="588074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Fragmented Data Sources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41417" y="5749131"/>
            <a:ext cx="588074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Disconnected CSV files prevent a consistent, auditable view of supply chain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0685"/>
            <a:ext cx="1079552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spc="-4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Target Solution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98086" y="1016893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layered platform separates raw ingestion from curated analytics — improving traceability and enabling independent development and validation of each phase.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28030"/>
            <a:ext cx="10795524" cy="4858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272" y="1489488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Ingest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24272" y="1847127"/>
            <a:ext cx="1889194" cy="36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CSV source files into raw layer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92705" y="5133024"/>
            <a:ext cx="189957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Clean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92705" y="5490663"/>
            <a:ext cx="189957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quality checks and standardization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378" y="1453156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Model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40378" y="1810795"/>
            <a:ext cx="188919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star-schema in the warehouse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08812" y="5133024"/>
            <a:ext cx="1889193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Analyze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8812" y="5490663"/>
            <a:ext cx="1889193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SQL views and KPIs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8086" y="6157020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Operating principle:</a:t>
            </a:r>
            <a:pPr algn="l" indent="0" marL="0">
              <a:lnSpc>
                <a:spcPct val="104000"/>
              </a:lnSpc>
              <a:buNone/>
            </a:pPr>
            <a:r>
              <a:rPr lang="en-US" sz="850" spc="-1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SQL Server is the governed system of record for curated analytics and model outputs. Python handles statistical analysis, model development, and scoring. Power BI delivers decision support and early warning.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Star Schema Data Model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028752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225205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Dimensions hold descriptive attributes; facts hold measurable business events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Original business keys preserved alongside surrogate keys for reconciliation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Incremental load logic supports repeatable, auditable ETL cycles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spc="-16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fact table links to relevant dimensions via foreign keys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811984"/>
            <a:ext cx="5276123" cy="378817"/>
          </a:xfrm>
          <a:prstGeom prst="roundRect">
            <a:avLst>
              <a:gd name="adj" fmla="val 11058"/>
            </a:avLst>
          </a:prstGeom>
          <a:solidFill>
            <a:srgbClr val="F0D4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3888284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877" y="3881735"/>
            <a:ext cx="485237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Data-modeling rule: preserve original business keys in each fact table even when surrogate keys are used — this supports reconciliation back to staging.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3109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ETL Pipeline &amp; Data Quality Framework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504652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1802408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948259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File Validation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8086" y="2336403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 checks, encoding verification, row-count validation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56983" y="1504652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6983" y="1802408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4356983" y="1948259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Staging Load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356983" y="2336403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preservation with ingestion timestamp and source file name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15881" y="1504652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15881" y="1802408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8015881" y="1948259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Standardization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015881" y="2336403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conversion, text trimming, categorical normalization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8086" y="3254077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8086" y="3551833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3697684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Duplicate Handling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98086" y="4085828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Business-key deduplication with documented rules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56983" y="3254077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56983" y="3551833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1" name="Text 19"/>
          <p:cNvSpPr/>
          <p:nvPr/>
        </p:nvSpPr>
        <p:spPr>
          <a:xfrm>
            <a:off x="4356983" y="3697684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Quality Rules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356983" y="4085828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Non-negative quantities/costs; valid date ranges; referential integrity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15881" y="3254077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015881" y="3551833"/>
            <a:ext cx="347772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5" name="Text 23"/>
          <p:cNvSpPr/>
          <p:nvPr/>
        </p:nvSpPr>
        <p:spPr>
          <a:xfrm>
            <a:off x="8015881" y="3697684"/>
            <a:ext cx="3477729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Dimension &amp; Fact Load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8015881" y="4085828"/>
            <a:ext cx="3477729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Upsert dimensions, resolve keys, insert facts with audit trail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8086" y="5003502"/>
            <a:ext cx="380197" cy="237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98086" y="5301258"/>
            <a:ext cx="1079552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9" name="Text 27"/>
          <p:cNvSpPr/>
          <p:nvPr/>
        </p:nvSpPr>
        <p:spPr>
          <a:xfrm>
            <a:off x="698086" y="5447109"/>
            <a:ext cx="10795524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Reconciliation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98086" y="5835253"/>
            <a:ext cx="10795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Source-to-warehouse row counts, monetary totals, rejected-record audit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440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KPI Framework &amp; Power BI Dashboards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578570"/>
            <a:ext cx="516589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KPI Definitions</a:t>
            </a:r>
            <a:endParaRPr lang="en-US" sz="1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061865"/>
          <a:ext cx="9143771" cy="914400"/>
        </p:xfrm>
        <a:graphic>
          <a:graphicData uri="http://schemas.openxmlformats.org/drawingml/2006/table">
            <a:tbl>
              <a:tblPr/>
              <a:tblGrid>
                <a:gridCol w="2066357"/>
                <a:gridCol w="3099536"/>
              </a:tblGrid>
              <a:tr h="5301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On-Time Delivery %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On-time POs / eligible POs × 100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127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Avg. Delivery Delay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Average delay days with documented early-delivery treatment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332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Inventory Turnover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COGS / average inventory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302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Stock-Out Rate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Stock-out SKU-date observations / eligible observations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270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Forecast MAPE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Mean absolute percentage error with zero-demand handling</a:t>
                      </a:r>
                      <a:endParaRPr lang="en-US" sz="14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0129" marR="190129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8086" y="2580094"/>
            <a:ext cx="5165893" cy="11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3707290"/>
            <a:ext cx="5165893" cy="11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98086" y="4240578"/>
            <a:ext cx="5165893" cy="11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98086" y="5070820"/>
            <a:ext cx="5165893" cy="1188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34066" y="1578570"/>
            <a:ext cx="516589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Dashboard Pages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334066" y="2061865"/>
            <a:ext cx="2492313" cy="2062063"/>
          </a:xfrm>
          <a:prstGeom prst="roundRect">
            <a:avLst>
              <a:gd name="adj" fmla="val 387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49563" y="2277368"/>
            <a:ext cx="206131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Executive Overview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549563" y="2738041"/>
            <a:ext cx="2061317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 cards, cost trend, OTD%, stock-out rate, downtime summary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007547" y="2061865"/>
            <a:ext cx="2492412" cy="2062063"/>
          </a:xfrm>
          <a:prstGeom prst="roundRect">
            <a:avLst>
              <a:gd name="adj" fmla="val 387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23045" y="2277368"/>
            <a:ext cx="206141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Supplier Performance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223045" y="3017540"/>
            <a:ext cx="206141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Ranking, average delay, OTD%, monthly trend with drill-through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334066" y="4305102"/>
            <a:ext cx="2492313" cy="1782564"/>
          </a:xfrm>
          <a:prstGeom prst="roundRect">
            <a:avLst>
              <a:gd name="adj" fmla="val 448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49563" y="4520605"/>
            <a:ext cx="206131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Inventory &amp; SKU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49563" y="4981277"/>
            <a:ext cx="2061317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Stock vs. reorder heatmap, forecast overlay, stock-out exposure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9007547" y="4305102"/>
            <a:ext cx="2492412" cy="1782564"/>
          </a:xfrm>
          <a:prstGeom prst="roundRect">
            <a:avLst>
              <a:gd name="adj" fmla="val 448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6BA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3045" y="4520605"/>
            <a:ext cx="206141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Risk &amp; Forecast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9223045" y="4981277"/>
            <a:ext cx="206141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Demand forecast, supplier risk scores, stock-out probability flags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4540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0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Statistical Analysis &amp; Predictive Strategy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616670"/>
            <a:ext cx="516589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Statistical Questions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98086" y="2077343"/>
            <a:ext cx="5165893" cy="2565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 supplier delays affect downtime?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Two-sample test / regression with controls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What drives logistics cost?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Multiple linear regression with mode, delay, volume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Does lead time relate to stock-outs?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Pearson/Spearman correlation + regression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Which costs or downtime events are abnormal?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IQR / z-score outlier detection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8086" y="4847034"/>
            <a:ext cx="5165893" cy="1015008"/>
          </a:xfrm>
          <a:prstGeom prst="roundRect">
            <a:avLst>
              <a:gd name="adj" fmla="val 7867"/>
            </a:avLst>
          </a:prstGeom>
          <a:solidFill>
            <a:srgbClr val="F0D4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184" y="5112544"/>
            <a:ext cx="237623" cy="1901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5905" y="5057577"/>
            <a:ext cx="4357975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 significance is not proof of causality. All findings report effect size, confidence interval, and p-value.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4066" y="1616670"/>
            <a:ext cx="5165893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Predictive Use Cases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334066" y="2099965"/>
            <a:ext cx="2492313" cy="2320925"/>
          </a:xfrm>
          <a:prstGeom prst="roundRect">
            <a:avLst>
              <a:gd name="adj" fmla="val 344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0514" y="2296418"/>
            <a:ext cx="2099416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Demand Forecasting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30514" y="3036590"/>
            <a:ext cx="2099416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Time-series baseline → regression → Random Forest. Evaluated on RMSE, MAPE, forecast bias.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007547" y="2099965"/>
            <a:ext cx="2492412" cy="2320925"/>
          </a:xfrm>
          <a:prstGeom prst="roundRect">
            <a:avLst>
              <a:gd name="adj" fmla="val 344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03996" y="2296418"/>
            <a:ext cx="2099515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Supplier Delay Risk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203996" y="2757091"/>
            <a:ext cx="2099515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 / Random Forest. Precision, recall, ROC-AUC; business impact measured.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334066" y="4602063"/>
            <a:ext cx="5165893" cy="1447502"/>
          </a:xfrm>
          <a:prstGeom prst="roundRect">
            <a:avLst>
              <a:gd name="adj" fmla="val 551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0514" y="4798516"/>
            <a:ext cx="4772997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Stock-Out Probability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530514" y="5259189"/>
            <a:ext cx="4772997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Binary classification with calibrated thresholds. Persisted to SQL Server for BI consumption.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70421"/>
            <a:ext cx="6223638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5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ML Integration: From Training to Dashboard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1744067"/>
            <a:ext cx="763568" cy="916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8531" y="1896765"/>
            <a:ext cx="53431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 Training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578531" y="2191445"/>
            <a:ext cx="5343193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Time-based splits, feature engineering, model comparison against baseline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60352"/>
            <a:ext cx="763568" cy="916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78531" y="2813050"/>
            <a:ext cx="53431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 Server Scoring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578531" y="3107730"/>
            <a:ext cx="5343193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 output tables: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ml_demand_forecast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ml_supplier_delay_risk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ml_stockout_risk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3576638"/>
            <a:ext cx="763568" cy="916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78531" y="3729335"/>
            <a:ext cx="53431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Semantic Model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578531" y="4024015"/>
            <a:ext cx="5343193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bands, threshold flags, drill-through from executive KPIs to SKU detail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492923"/>
            <a:ext cx="763568" cy="916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78531" y="4645620"/>
            <a:ext cx="53431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Operational Action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1578531" y="4940300"/>
            <a:ext cx="5343193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Alerts, owner assignment, outcome tracking, and model drift monitoring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98086" y="5540673"/>
            <a:ext cx="6223638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Key rule:</a:t>
            </a:r>
            <a:pPr algn="l" indent="0" marL="0">
              <a:lnSpc>
                <a:spcPct val="118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Features must use only information available at the time the prediction would actually be made — no target leakage. Risk-band thresholds are tuned on validation data and frozen before final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813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Business Recommendations Framework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603772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351782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Supplier Management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2764730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 by delivery reliability, dependency, and criticality. Qualify alternatives for single-source SKUs.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1603772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2351782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Inventory Optimization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2764730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Recalculate reorder points and safety stock using demand variability and supplier lead-time distributions.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1603772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2351782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Logistics Optimization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2764730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cost and delay by mode and lane; investigate high-cost outliers to reduce avoidable freight spend.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121249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486925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Production Planning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8086" y="5282208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supplier delay risk and demand forecasts in scheduling to reduce downtime from upstream shortages.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704" y="4121249"/>
            <a:ext cx="498661" cy="4986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9704" y="4869259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Early Warning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379704" y="5282208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Surface risk scores with owner and action — moving from retrospective reporting to proactive intervention.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4164"/>
            <a:ext cx="10795524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5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Implementation Roadmap &amp; Next Steps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86323" y="1260078"/>
            <a:ext cx="19050" cy="4179094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4" name="Shape 2"/>
          <p:cNvSpPr/>
          <p:nvPr/>
        </p:nvSpPr>
        <p:spPr>
          <a:xfrm>
            <a:off x="5510670" y="1415355"/>
            <a:ext cx="439429" cy="1905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5931049" y="1260078"/>
            <a:ext cx="329596" cy="329605"/>
          </a:xfrm>
          <a:prstGeom prst="roundRect">
            <a:avLst>
              <a:gd name="adj" fmla="val 186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2464" y="1295648"/>
            <a:ext cx="206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086" y="1310382"/>
            <a:ext cx="466534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1: Foundation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8086" y="1590278"/>
            <a:ext cx="466534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profiling, DDL deployment, staging and dimension tables built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1596" y="2216348"/>
            <a:ext cx="439429" cy="1905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5931049" y="2061071"/>
            <a:ext cx="329596" cy="329605"/>
          </a:xfrm>
          <a:prstGeom prst="roundRect">
            <a:avLst>
              <a:gd name="adj" fmla="val 186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2464" y="2096641"/>
            <a:ext cx="206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28262" y="2111375"/>
            <a:ext cx="466534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2: ETL &amp; Analytics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28262" y="2391271"/>
            <a:ext cx="466534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Transformation pipelines, KPI views, reconciliation, and audit framework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10670" y="2934990"/>
            <a:ext cx="439429" cy="1905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1049" y="2779713"/>
            <a:ext cx="329596" cy="329605"/>
          </a:xfrm>
          <a:prstGeom prst="roundRect">
            <a:avLst>
              <a:gd name="adj" fmla="val 186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2464" y="2815282"/>
            <a:ext cx="206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086" y="2830016"/>
            <a:ext cx="466534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3: BI &amp; Statistics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8086" y="3109913"/>
            <a:ext cx="466534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semantic model, dashboards, hypothesis tests, regression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1596" y="3653631"/>
            <a:ext cx="439429" cy="1905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20" name="Shape 18"/>
          <p:cNvSpPr/>
          <p:nvPr/>
        </p:nvSpPr>
        <p:spPr>
          <a:xfrm>
            <a:off x="5931049" y="3498354"/>
            <a:ext cx="329596" cy="329605"/>
          </a:xfrm>
          <a:prstGeom prst="roundRect">
            <a:avLst>
              <a:gd name="adj" fmla="val 186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2464" y="3533924"/>
            <a:ext cx="206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8262" y="3548658"/>
            <a:ext cx="466534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4: ML &amp; 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28262" y="3828554"/>
            <a:ext cx="466534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training, validation, scoring pipeline, ML output tables, BI refresh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10670" y="4372273"/>
            <a:ext cx="439429" cy="1905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1049" y="4216995"/>
            <a:ext cx="329596" cy="329605"/>
          </a:xfrm>
          <a:prstGeom prst="roundRect">
            <a:avLst>
              <a:gd name="adj" fmla="val 1866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2464" y="4252565"/>
            <a:ext cx="206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086" y="4267299"/>
            <a:ext cx="466534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5: Recommendations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8086" y="4547195"/>
            <a:ext cx="466534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Prioritized actions, quantified impact model, executive presentation, handover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8086" y="5560120"/>
            <a:ext cx="10795524" cy="683716"/>
          </a:xfrm>
          <a:prstGeom prst="roundRect">
            <a:avLst>
              <a:gd name="adj" fmla="val 8999"/>
            </a:avLst>
          </a:prstGeom>
          <a:solidFill>
            <a:srgbClr val="F0D4F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5709444"/>
            <a:ext cx="183054" cy="14644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74026" y="5704284"/>
            <a:ext cx="10173140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b="1" spc="-23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Immediate next step:</a:t>
            </a:r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Profile the seven source CSV files — confirm exact columns, keys, date coverage, grain, and data-quality characteristics. DDL, ETL mappings, and model features are then finalized against real data.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2026-09-23T13:57:50Z</dcterms:created>
  <dcterms:modified xsi:type="dcterms:W3CDTF">2026-09-23T13:57:50Z</dcterms:modified>
</cp:coreProperties>
</file>